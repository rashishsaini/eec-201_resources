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1" r:id="rId2"/>
    <p:sldId id="282" r:id="rId3"/>
    <p:sldId id="283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4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594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F4942C-EBEF-4BAD-A0C1-664ADD5342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C88-8D36-423B-BECC-3833C2796E2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1C7C69F-4BE0-460E-A1FC-864A2B4AEB8D}" type="datetimeFigureOut">
              <a:rPr lang="en-IN"/>
              <a:pPr>
                <a:defRPr/>
              </a:pPr>
              <a:t>04-08-2026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AD330BC-D6A0-4BDD-B76D-EDE82ACD2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33BA84-D56A-4DE1-A21C-861678BE34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D8527-FE5C-4602-B944-C49415A5E0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85ADC-DD6B-498B-9167-3B306FB48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0ECD8F2-932C-477C-A239-08B01C7AC8AD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DDD9B3-92F7-12B1-A85A-B81E40F7DA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E5E450-F3B8-AF1E-C6E2-D65796A1D8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83F46D-29C8-4DE2-0BDA-BC66F30080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386A1D-52BC-4C7D-A4DE-08AC7AC999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798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6D8954-8839-EC6D-FCD8-7FC5EDA2A8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EF0B3E-A480-EE53-BD2A-66B446825B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F03B12-E3A8-4CEE-3C5C-389D9EE0D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3C4363-B094-4E26-B9C8-512621CCD5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488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3A903E-9E00-0561-2605-50718BCCF3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026F3E-540C-896D-13A5-B83107423B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764271-E4E4-4313-DA75-9C0B8487B4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297996-A50E-4A0B-858F-1405CA421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468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23CE1E-2DC5-0364-88D8-B1A9F1EF6B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4D541-CADB-09B6-A498-4AE1B3187E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65E6A-8A5F-E84C-25A3-9B63AA0E6F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22D8AB-86DD-4DEF-A2F2-AF6AE1C43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140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3C160F9-F4FD-15C2-40DB-224C4A6583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984D26-38E3-28DB-7744-338C076E49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D58D6BE-2EBE-B63B-87D7-C5761C189C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E8213B-2578-4166-B311-7853B78477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75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865147C-8D4B-F324-35F7-9C397C8634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4172DD4-D14F-EE76-889C-E77098AA0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DE06503-0D81-E300-75ED-7DD90CE696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67AACB-6E3E-4D0E-9F81-D125633D3A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6215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08B7FF9-6B52-C63D-E030-B9ECA12171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232B066-798B-D373-389D-261536D84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B0F0475-F3B1-7A78-2C3C-C64C575458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91865D-208A-4545-81A6-DEFAFEF155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886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D945DC-B017-FB04-F8CC-1569CFA808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DE0D63-3F6A-BF32-C9C5-455089EA4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15F3DE-6777-8667-A3B6-DFC0535157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55186-6977-4047-BC4E-655B871E6C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23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AB2401-404D-B890-4573-9E7A723315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2718D8-2317-BABD-7BB5-50DEECBE04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64FB9-7B5F-25D8-659F-CAA05CFC9C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984F66-2119-452E-98CE-6CB4509915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421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B3925D-5BFF-73AB-EDC2-19EEA98EC8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287725-2061-9F8B-3721-C782C06567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214C36-7827-E3B6-D24A-12B669C619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A7C4E7-4EB2-445E-83FC-03F8F5C403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012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E150A4-C793-BF8C-9B67-4F919AD275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F33EF6-BA27-23D1-785E-D101538963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E079A8-78C8-3F94-E449-B4B80F3D39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37A12E-D353-4AD2-B192-A513608058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141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21D17DB-E93F-CAC1-FCDE-311C8AD83F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D7F78EB-78F2-DCB6-8385-6F73EF7879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D127085-55B8-EB9D-B34E-33553ADC66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DF234F-3F6F-4AB1-AB66-33712D63D3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392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E70EB3E-E3E8-13C3-C99F-97FDF1031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2A62A1B-BD11-C980-4978-6565E349A3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E1852C8-5F80-4CF2-98B6-4BB8009CEB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DA8C7D6-EDAB-4A13-8C86-FBE24243ED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4A9FA1-5364-4F7B-9E19-42C2C4CF76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3E8A948-A776-4E7D-91DD-D6B158375E3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7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7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7" Type="http://schemas.openxmlformats.org/officeDocument/2006/relationships/image" Target="../media/image2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A77CF9AD-243E-F10E-8AE0-6A877F838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/>
          <a:lstStyle/>
          <a:p>
            <a:r>
              <a:rPr lang="en-GB" altLang="en-US" sz="3600" b="1"/>
              <a:t>Network Functions</a:t>
            </a:r>
            <a:endParaRPr lang="en-IN" altLang="en-US" sz="3600" b="1"/>
          </a:p>
        </p:txBody>
      </p:sp>
      <p:sp>
        <p:nvSpPr>
          <p:cNvPr id="3075" name="Content Placeholder 2">
            <a:extLst>
              <a:ext uri="{FF2B5EF4-FFF2-40B4-BE49-F238E27FC236}">
                <a16:creationId xmlns:a16="http://schemas.microsoft.com/office/drawing/2014/main" id="{C07E13BC-11C3-EC8B-8F4B-7CEC33ED7C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5225"/>
            <a:ext cx="82296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GB" altLang="en-US" sz="2800" b="1" u="sng"/>
              <a:t>One-port and two-port networks</a:t>
            </a:r>
            <a:endParaRPr lang="en-IN" altLang="en-US" sz="2800" b="1" u="sng"/>
          </a:p>
        </p:txBody>
      </p:sp>
      <p:pic>
        <p:nvPicPr>
          <p:cNvPr id="3076" name="Picture 3">
            <a:extLst>
              <a:ext uri="{FF2B5EF4-FFF2-40B4-BE49-F238E27FC236}">
                <a16:creationId xmlns:a16="http://schemas.microsoft.com/office/drawing/2014/main" id="{241D2AA5-76D4-E01B-C6CE-EA492F151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79588"/>
            <a:ext cx="65532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4">
            <a:extLst>
              <a:ext uri="{FF2B5EF4-FFF2-40B4-BE49-F238E27FC236}">
                <a16:creationId xmlns:a16="http://schemas.microsoft.com/office/drawing/2014/main" id="{DCAC65F4-3AE8-4E2E-B832-DA41F768D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810000"/>
            <a:ext cx="259080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5">
            <a:extLst>
              <a:ext uri="{FF2B5EF4-FFF2-40B4-BE49-F238E27FC236}">
                <a16:creationId xmlns:a16="http://schemas.microsoft.com/office/drawing/2014/main" id="{70D18889-837D-F609-6CE7-4BB617297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84588"/>
            <a:ext cx="2676525" cy="191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TextBox 6">
            <a:extLst>
              <a:ext uri="{FF2B5EF4-FFF2-40B4-BE49-F238E27FC236}">
                <a16:creationId xmlns:a16="http://schemas.microsoft.com/office/drawing/2014/main" id="{438831A6-8A30-ABFB-4CDE-DA1612048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735638"/>
            <a:ext cx="1905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/>
              <a:t>2-port network</a:t>
            </a:r>
            <a:endParaRPr lang="en-IN" altLang="en-US" sz="1800" b="1"/>
          </a:p>
        </p:txBody>
      </p:sp>
      <p:sp>
        <p:nvSpPr>
          <p:cNvPr id="3080" name="TextBox 7">
            <a:extLst>
              <a:ext uri="{FF2B5EF4-FFF2-40B4-BE49-F238E27FC236}">
                <a16:creationId xmlns:a16="http://schemas.microsoft.com/office/drawing/2014/main" id="{C7E0123E-2E32-0D9A-A5F4-D1B363DD9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5603875"/>
            <a:ext cx="19050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 b="1"/>
              <a:t>1-port network</a:t>
            </a:r>
            <a:endParaRPr lang="en-IN" altLang="en-US" sz="1800" b="1"/>
          </a:p>
        </p:txBody>
      </p:sp>
      <p:sp>
        <p:nvSpPr>
          <p:cNvPr id="3081" name="TextBox 8">
            <a:extLst>
              <a:ext uri="{FF2B5EF4-FFF2-40B4-BE49-F238E27FC236}">
                <a16:creationId xmlns:a16="http://schemas.microsoft.com/office/drawing/2014/main" id="{5864BA70-D7FF-4BFE-270A-DF5189FC3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53163"/>
            <a:ext cx="8305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1800"/>
              <a:t>In 2-port network, port 1 is considered as input port. Port 2 is output port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1800"/>
              <a:t>Inside the network, there is no independent sources</a:t>
            </a:r>
            <a:endParaRPr lang="en-IN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ontent Placeholder 2">
            <a:extLst>
              <a:ext uri="{FF2B5EF4-FFF2-40B4-BE49-F238E27FC236}">
                <a16:creationId xmlns:a16="http://schemas.microsoft.com/office/drawing/2014/main" id="{7BD8FCA6-54B7-19FC-AFD2-799A48EB5C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4300" y="114300"/>
            <a:ext cx="8915400" cy="6629400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n-GB" altLang="en-US" sz="2400" b="1"/>
              <a:t>Network function is defined as the Laplace transform of the output divided by the Laplace transform of the input when initial conditions are zero.</a:t>
            </a:r>
          </a:p>
          <a:p>
            <a:pPr marL="0" indent="0" algn="just">
              <a:buFontTx/>
              <a:buNone/>
            </a:pPr>
            <a:r>
              <a:rPr lang="en-GB" altLang="en-US" sz="2400" b="1"/>
              <a:t>Network functions of one-port networks are driving point impedance and admittance functions.</a:t>
            </a:r>
          </a:p>
          <a:p>
            <a:pPr marL="0" indent="0">
              <a:buFontTx/>
              <a:buNone/>
            </a:pPr>
            <a:endParaRPr lang="en-IN" altLang="en-US" sz="2400"/>
          </a:p>
          <a:p>
            <a:pPr marL="0" indent="0" algn="just">
              <a:buFontTx/>
              <a:buNone/>
            </a:pPr>
            <a:r>
              <a:rPr lang="en-GB" altLang="en-US" sz="2400" b="1"/>
              <a:t>Network functions of two-port network networks are driving point and transfer functions.</a:t>
            </a:r>
            <a:endParaRPr lang="en-IN" altLang="en-US" sz="2400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57C13274-5F6D-BC03-181A-EA2E23415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19300"/>
            <a:ext cx="238601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D544231-92CE-83A2-495F-7F2730970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985963"/>
            <a:ext cx="24701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399247-4484-4112-A8CC-BB923F7206B2}"/>
              </a:ext>
            </a:extLst>
          </p:cNvPr>
          <p:cNvSpPr txBox="1"/>
          <p:nvPr/>
        </p:nvSpPr>
        <p:spPr>
          <a:xfrm>
            <a:off x="762000" y="3429000"/>
            <a:ext cx="8156575" cy="538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11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(s),Y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11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(s),Z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22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(s),Y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22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    Driving point functions     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4D844D-8D28-4B1F-A137-2B603231A79C}"/>
              </a:ext>
            </a:extLst>
          </p:cNvPr>
          <p:cNvSpPr txBox="1"/>
          <p:nvPr/>
        </p:nvSpPr>
        <p:spPr>
          <a:xfrm>
            <a:off x="762000" y="4157663"/>
            <a:ext cx="8156575" cy="538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(s),</a:t>
            </a:r>
            <a:r>
              <a:rPr lang="el-GR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(s),Z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(s),Y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    Transfer functions   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946282-CD08-47AF-B3F7-09A7F7F140B6}"/>
              </a:ext>
            </a:extLst>
          </p:cNvPr>
          <p:cNvSpPr txBox="1"/>
          <p:nvPr/>
        </p:nvSpPr>
        <p:spPr>
          <a:xfrm>
            <a:off x="762000" y="4668838"/>
            <a:ext cx="8382000" cy="1989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</a:t>
            </a:r>
            <a:r>
              <a:rPr lang="en-IN" sz="2800" b="1" kern="100" baseline="-250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12</a:t>
            </a: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 = </a:t>
            </a:r>
            <a:r>
              <a:rPr lang="en-IN" sz="2400" b="1" kern="100" dirty="0">
                <a:solidFill>
                  <a:srgbClr val="0033CC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en-IN" sz="2400" b="1" kern="100" baseline="-25000" dirty="0">
                <a:solidFill>
                  <a:srgbClr val="0033CC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IN" sz="2400" b="1" kern="100" dirty="0">
                <a:solidFill>
                  <a:srgbClr val="0033CC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(s)/V</a:t>
            </a:r>
            <a:r>
              <a:rPr lang="en-IN" sz="2400" b="1" kern="100" baseline="-25000" dirty="0">
                <a:solidFill>
                  <a:srgbClr val="0033CC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IN" sz="2400" b="1" kern="100" dirty="0">
                <a:solidFill>
                  <a:srgbClr val="0033CC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(s)  Voltage Transfer Function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2400" b="1" kern="100" dirty="0">
                <a:solidFill>
                  <a:srgbClr val="0033CC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IN" sz="2400" b="1" kern="100" dirty="0">
                <a:solidFill>
                  <a:srgbClr val="0033CC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					  </a:t>
            </a:r>
            <a:r>
              <a:rPr lang="en-IN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K=</a:t>
            </a:r>
            <a:r>
              <a:rPr lang="en-IN" sz="24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</a:t>
            </a:r>
            <a:r>
              <a:rPr lang="en-IN" sz="1100" b="1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IN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/a</a:t>
            </a:r>
            <a:r>
              <a:rPr lang="en-IN" sz="16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</a:t>
            </a:r>
            <a:r>
              <a:rPr lang="en-IN" sz="2400" b="1" kern="100" dirty="0">
                <a:solidFill>
                  <a:srgbClr val="0033CC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07000"/>
              </a:lnSpc>
              <a:spcAft>
                <a:spcPts val="800"/>
              </a:spcAft>
              <a:defRPr/>
            </a:pPr>
            <a:r>
              <a:rPr lang="en-IN" sz="2800" b="1" kern="100" dirty="0">
                <a:solidFill>
                  <a:srgbClr val="0070C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</a:t>
            </a:r>
            <a:r>
              <a:rPr lang="en-IN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z</a:t>
            </a:r>
            <a:r>
              <a:rPr lang="en-IN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,….. zeros of N(s) p</a:t>
            </a:r>
            <a:r>
              <a:rPr lang="en-IN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</a:t>
            </a:r>
            <a:r>
              <a:rPr lang="en-IN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</a:t>
            </a:r>
            <a:r>
              <a:rPr lang="en-IN" sz="28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… are poles of N(s) </a:t>
            </a:r>
          </a:p>
        </p:txBody>
      </p:sp>
      <p:pic>
        <p:nvPicPr>
          <p:cNvPr id="4104" name="Picture 21">
            <a:extLst>
              <a:ext uri="{FF2B5EF4-FFF2-40B4-BE49-F238E27FC236}">
                <a16:creationId xmlns:a16="http://schemas.microsoft.com/office/drawing/2014/main" id="{3E228D74-5861-E1C2-2093-5FFF5F7EF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268913"/>
            <a:ext cx="6978650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>
            <a:extLst>
              <a:ext uri="{FF2B5EF4-FFF2-40B4-BE49-F238E27FC236}">
                <a16:creationId xmlns:a16="http://schemas.microsoft.com/office/drawing/2014/main" id="{14A70A5B-4284-6336-1B11-1BABC4E28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1528763"/>
            <a:ext cx="3429000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Box 5">
            <a:extLst>
              <a:ext uri="{FF2B5EF4-FFF2-40B4-BE49-F238E27FC236}">
                <a16:creationId xmlns:a16="http://schemas.microsoft.com/office/drawing/2014/main" id="{CE6ADF33-798C-A6FF-9322-36DDA4AFB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33400"/>
            <a:ext cx="6553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Find the driving point admittance function Y(s) of the following network.</a:t>
            </a:r>
            <a:endParaRPr lang="en-IN" altLang="en-US"/>
          </a:p>
        </p:txBody>
      </p:sp>
      <p:pic>
        <p:nvPicPr>
          <p:cNvPr id="5124" name="Picture 6">
            <a:extLst>
              <a:ext uri="{FF2B5EF4-FFF2-40B4-BE49-F238E27FC236}">
                <a16:creationId xmlns:a16="http://schemas.microsoft.com/office/drawing/2014/main" id="{2C9D3F8E-1A94-F63D-4D49-6CA5EBAB8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962400"/>
            <a:ext cx="451802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6">
            <a:extLst>
              <a:ext uri="{FF2B5EF4-FFF2-40B4-BE49-F238E27FC236}">
                <a16:creationId xmlns:a16="http://schemas.microsoft.com/office/drawing/2014/main" id="{5FA33541-5AE6-482B-BFEA-26C032920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8458200" cy="609600"/>
          </a:xfrm>
          <a:noFill/>
        </p:spPr>
        <p:txBody>
          <a:bodyPr/>
          <a:lstStyle/>
          <a:p>
            <a:pPr eaLnBrk="1" hangingPunct="1"/>
            <a:r>
              <a:rPr lang="en-US" altLang="zh-CN" sz="3600" b="1">
                <a:solidFill>
                  <a:srgbClr val="3333FF"/>
                </a:solidFill>
              </a:rPr>
              <a:t>Network function models</a:t>
            </a:r>
          </a:p>
        </p:txBody>
      </p:sp>
      <p:sp>
        <p:nvSpPr>
          <p:cNvPr id="2051" name="Text Box 17">
            <a:extLst>
              <a:ext uri="{FF2B5EF4-FFF2-40B4-BE49-F238E27FC236}">
                <a16:creationId xmlns:a16="http://schemas.microsoft.com/office/drawing/2014/main" id="{5003BCFE-A1D9-D3AC-FA2D-57AD4DE4D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0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9212B"/>
                </a:solidFill>
                <a:latin typeface="Times New Roman" panose="02020603050405020304" pitchFamily="18" charset="0"/>
              </a:rPr>
              <a:t>1   Proportioning element</a:t>
            </a:r>
          </a:p>
        </p:txBody>
      </p:sp>
      <p:sp>
        <p:nvSpPr>
          <p:cNvPr id="2052" name="Text Box 18">
            <a:extLst>
              <a:ext uri="{FF2B5EF4-FFF2-40B4-BE49-F238E27FC236}">
                <a16:creationId xmlns:a16="http://schemas.microsoft.com/office/drawing/2014/main" id="{30FC4F73-B2E4-0B97-D2AD-4E5021A36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7432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Relationship between the input and output variables:</a:t>
            </a:r>
          </a:p>
        </p:txBody>
      </p:sp>
      <p:graphicFrame>
        <p:nvGraphicFramePr>
          <p:cNvPr id="2053" name="Object 19">
            <a:extLst>
              <a:ext uri="{FF2B5EF4-FFF2-40B4-BE49-F238E27FC236}">
                <a16:creationId xmlns:a16="http://schemas.microsoft.com/office/drawing/2014/main" id="{59118DFC-A194-5D7A-0D2C-693E785F7A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0600" y="3200400"/>
          <a:ext cx="19478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203112" progId="Equation.DSMT4">
                  <p:embed/>
                </p:oleObj>
              </mc:Choice>
              <mc:Fallback>
                <p:oleObj name="Equation" r:id="rId2" imgW="710891" imgH="203112" progId="Equation.DSMT4">
                  <p:embed/>
                  <p:pic>
                    <p:nvPicPr>
                      <p:cNvPr id="2053" name="Object 19">
                        <a:extLst>
                          <a:ext uri="{FF2B5EF4-FFF2-40B4-BE49-F238E27FC236}">
                            <a16:creationId xmlns:a16="http://schemas.microsoft.com/office/drawing/2014/main" id="{59118DFC-A194-5D7A-0D2C-693E785F7A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3200400"/>
                        <a:ext cx="19478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20">
            <a:extLst>
              <a:ext uri="{FF2B5EF4-FFF2-40B4-BE49-F238E27FC236}">
                <a16:creationId xmlns:a16="http://schemas.microsoft.com/office/drawing/2014/main" id="{2F895789-1313-CAD5-663B-F93092566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733800"/>
            <a:ext cx="267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Transfer function:</a:t>
            </a:r>
          </a:p>
        </p:txBody>
      </p:sp>
      <p:graphicFrame>
        <p:nvGraphicFramePr>
          <p:cNvPr id="2055" name="Object 21">
            <a:extLst>
              <a:ext uri="{FF2B5EF4-FFF2-40B4-BE49-F238E27FC236}">
                <a16:creationId xmlns:a16="http://schemas.microsoft.com/office/drawing/2014/main" id="{1B2F6A96-39F1-F420-CFAC-378EB18472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3581400"/>
          <a:ext cx="1981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0948" imgH="418918" progId="Equation.3">
                  <p:embed/>
                </p:oleObj>
              </mc:Choice>
              <mc:Fallback>
                <p:oleObj name="Equation" r:id="rId4" imgW="1040948" imgH="418918" progId="Equation.3">
                  <p:embed/>
                  <p:pic>
                    <p:nvPicPr>
                      <p:cNvPr id="2055" name="Object 21">
                        <a:extLst>
                          <a:ext uri="{FF2B5EF4-FFF2-40B4-BE49-F238E27FC236}">
                            <a16:creationId xmlns:a16="http://schemas.microsoft.com/office/drawing/2014/main" id="{1B2F6A96-39F1-F420-CFAC-378EB18472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581400"/>
                        <a:ext cx="1981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Text Box 22">
            <a:extLst>
              <a:ext uri="{FF2B5EF4-FFF2-40B4-BE49-F238E27FC236}">
                <a16:creationId xmlns:a16="http://schemas.microsoft.com/office/drawing/2014/main" id="{20411F5F-2101-0E35-947A-16BB86C97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3434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Block diagram representation and unit step response:</a:t>
            </a:r>
          </a:p>
        </p:txBody>
      </p:sp>
      <p:graphicFrame>
        <p:nvGraphicFramePr>
          <p:cNvPr id="2057" name="Object 23">
            <a:extLst>
              <a:ext uri="{FF2B5EF4-FFF2-40B4-BE49-F238E27FC236}">
                <a16:creationId xmlns:a16="http://schemas.microsoft.com/office/drawing/2014/main" id="{58880807-ED79-0971-BDB7-F4AA0FD376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4800600"/>
          <a:ext cx="37338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652435" imgH="1008761" progId="Visio.Drawing.6">
                  <p:embed/>
                </p:oleObj>
              </mc:Choice>
              <mc:Fallback>
                <p:oleObj name="Visio" r:id="rId6" imgW="1652435" imgH="1008761" progId="Visio.Drawing.6">
                  <p:embed/>
                  <p:pic>
                    <p:nvPicPr>
                      <p:cNvPr id="2057" name="Object 23">
                        <a:extLst>
                          <a:ext uri="{FF2B5EF4-FFF2-40B4-BE49-F238E27FC236}">
                            <a16:creationId xmlns:a16="http://schemas.microsoft.com/office/drawing/2014/main" id="{58880807-ED79-0971-BDB7-F4AA0FD376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800600"/>
                        <a:ext cx="37338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8" name="Text Box 24">
            <a:extLst>
              <a:ext uri="{FF2B5EF4-FFF2-40B4-BE49-F238E27FC236}">
                <a16:creationId xmlns:a16="http://schemas.microsoft.com/office/drawing/2014/main" id="{AFA01B31-F02F-29D1-AE38-D85B21DAE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029200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Examples:</a:t>
            </a:r>
          </a:p>
        </p:txBody>
      </p:sp>
      <p:sp>
        <p:nvSpPr>
          <p:cNvPr id="2059" name="Text Box 25">
            <a:extLst>
              <a:ext uri="{FF2B5EF4-FFF2-40B4-BE49-F238E27FC236}">
                <a16:creationId xmlns:a16="http://schemas.microsoft.com/office/drawing/2014/main" id="{6BB33C1E-E456-0897-2490-BF7D746EAD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486400"/>
            <a:ext cx="29067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amplifier, gear train,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tachometer…</a:t>
            </a:r>
            <a:endParaRPr kumimoji="1" lang="en-US" altLang="zh-CN" sz="2400" b="1">
              <a:solidFill>
                <a:srgbClr val="463634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60" name="Text Box 26">
            <a:extLst>
              <a:ext uri="{FF2B5EF4-FFF2-40B4-BE49-F238E27FC236}">
                <a16:creationId xmlns:a16="http://schemas.microsoft.com/office/drawing/2014/main" id="{CBFA4AAB-F018-F13D-5EB4-276D82F62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66800"/>
            <a:ext cx="86868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Clr>
                <a:schemeClr val="tx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rgbClr val="F2291A"/>
                </a:solidFill>
                <a:latin typeface="Times New Roman" panose="02020603050405020304" pitchFamily="18" charset="0"/>
              </a:rPr>
              <a:t>  Transfer function of the typical elements of linear networks</a:t>
            </a:r>
          </a:p>
          <a:p>
            <a:pPr eaLnBrk="1" hangingPunct="1">
              <a:buClr>
                <a:schemeClr val="tx2"/>
              </a:buClr>
              <a:buSzPct val="65000"/>
              <a:buFont typeface="Wingdings" panose="05000000000000000000" pitchFamily="2" charset="2"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     A linear system can be regarded as the composing of  several typical elements, which are:</a:t>
            </a:r>
            <a:endParaRPr kumimoji="1" lang="en-US" altLang="zh-CN" sz="2400" b="1">
              <a:solidFill>
                <a:srgbClr val="463634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61" name="TextBox 1">
            <a:extLst>
              <a:ext uri="{FF2B5EF4-FFF2-40B4-BE49-F238E27FC236}">
                <a16:creationId xmlns:a16="http://schemas.microsoft.com/office/drawing/2014/main" id="{78C1CCFC-F41C-DDCE-2268-9821BAB2EE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7263" y="3211513"/>
            <a:ext cx="2438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IN" altLang="en-US" sz="2400" b="1" i="1">
                <a:latin typeface="Arial" panose="020B0604020202020204" pitchFamily="34" charset="0"/>
              </a:rPr>
              <a:t>i(t) =k v(t)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5">
            <a:extLst>
              <a:ext uri="{FF2B5EF4-FFF2-40B4-BE49-F238E27FC236}">
                <a16:creationId xmlns:a16="http://schemas.microsoft.com/office/drawing/2014/main" id="{D840E7E7-2DC2-258E-8738-68DFA1BDE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990600"/>
            <a:ext cx="3733800" cy="4572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F9212B"/>
                </a:solidFill>
              </a:rPr>
              <a:t>2   Integrating element</a:t>
            </a:r>
          </a:p>
        </p:txBody>
      </p:sp>
      <p:sp>
        <p:nvSpPr>
          <p:cNvPr id="3075" name="Text Box 16">
            <a:extLst>
              <a:ext uri="{FF2B5EF4-FFF2-40B4-BE49-F238E27FC236}">
                <a16:creationId xmlns:a16="http://schemas.microsoft.com/office/drawing/2014/main" id="{FC402678-81A1-F64F-6E7D-0449892E6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4478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Relationship between the input and output variables:</a:t>
            </a:r>
          </a:p>
        </p:txBody>
      </p:sp>
      <p:graphicFrame>
        <p:nvGraphicFramePr>
          <p:cNvPr id="3076" name="Object 17">
            <a:extLst>
              <a:ext uri="{FF2B5EF4-FFF2-40B4-BE49-F238E27FC236}">
                <a16:creationId xmlns:a16="http://schemas.microsoft.com/office/drawing/2014/main" id="{6585769E-2A41-6179-C65B-6D50DC8EE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1905000"/>
          <a:ext cx="622141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14606" imgH="509475" progId="Equation.3">
                  <p:embed/>
                </p:oleObj>
              </mc:Choice>
              <mc:Fallback>
                <p:oleObj name="Equation" r:id="rId2" imgW="3214606" imgH="509475" progId="Equation.3">
                  <p:embed/>
                  <p:pic>
                    <p:nvPicPr>
                      <p:cNvPr id="3076" name="Object 17">
                        <a:extLst>
                          <a:ext uri="{FF2B5EF4-FFF2-40B4-BE49-F238E27FC236}">
                            <a16:creationId xmlns:a16="http://schemas.microsoft.com/office/drawing/2014/main" id="{6585769E-2A41-6179-C65B-6D50DC8EEF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05000"/>
                        <a:ext cx="622141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Text Box 18">
            <a:extLst>
              <a:ext uri="{FF2B5EF4-FFF2-40B4-BE49-F238E27FC236}">
                <a16:creationId xmlns:a16="http://schemas.microsoft.com/office/drawing/2014/main" id="{18CE1DF8-E651-5205-C820-2261B9A6E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24200"/>
            <a:ext cx="260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Transfer function:</a:t>
            </a:r>
          </a:p>
        </p:txBody>
      </p:sp>
      <p:graphicFrame>
        <p:nvGraphicFramePr>
          <p:cNvPr id="3078" name="Object 19">
            <a:extLst>
              <a:ext uri="{FF2B5EF4-FFF2-40B4-BE49-F238E27FC236}">
                <a16:creationId xmlns:a16="http://schemas.microsoft.com/office/drawing/2014/main" id="{77A4AD35-777E-CDB3-FE15-E67CDF5D98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75" y="2971800"/>
          <a:ext cx="2273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6779" imgH="404655" progId="Equation.3">
                  <p:embed/>
                </p:oleObj>
              </mc:Choice>
              <mc:Fallback>
                <p:oleObj name="Equation" r:id="rId4" imgW="1166779" imgH="404655" progId="Equation.3">
                  <p:embed/>
                  <p:pic>
                    <p:nvPicPr>
                      <p:cNvPr id="3078" name="Object 19">
                        <a:extLst>
                          <a:ext uri="{FF2B5EF4-FFF2-40B4-BE49-F238E27FC236}">
                            <a16:creationId xmlns:a16="http://schemas.microsoft.com/office/drawing/2014/main" id="{77A4AD35-777E-CDB3-FE15-E67CDF5D98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2971800"/>
                        <a:ext cx="22733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Text Box 20">
            <a:extLst>
              <a:ext uri="{FF2B5EF4-FFF2-40B4-BE49-F238E27FC236}">
                <a16:creationId xmlns:a16="http://schemas.microsoft.com/office/drawing/2014/main" id="{A44252F8-348E-791C-55BC-8DAD27724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Block diagram representation and unit step response:</a:t>
            </a:r>
          </a:p>
        </p:txBody>
      </p:sp>
      <p:graphicFrame>
        <p:nvGraphicFramePr>
          <p:cNvPr id="3080" name="Object 21">
            <a:extLst>
              <a:ext uri="{FF2B5EF4-FFF2-40B4-BE49-F238E27FC236}">
                <a16:creationId xmlns:a16="http://schemas.microsoft.com/office/drawing/2014/main" id="{6410B02E-8A15-7797-1838-9C0B52409C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" y="4343400"/>
          <a:ext cx="35814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016629" imgH="1151717" progId="Visio.Drawing.6">
                  <p:embed/>
                </p:oleObj>
              </mc:Choice>
              <mc:Fallback>
                <p:oleObj name="Visio" r:id="rId6" imgW="2016629" imgH="1151717" progId="Visio.Drawing.6">
                  <p:embed/>
                  <p:pic>
                    <p:nvPicPr>
                      <p:cNvPr id="3080" name="Object 21">
                        <a:extLst>
                          <a:ext uri="{FF2B5EF4-FFF2-40B4-BE49-F238E27FC236}">
                            <a16:creationId xmlns:a16="http://schemas.microsoft.com/office/drawing/2014/main" id="{6410B02E-8A15-7797-1838-9C0B52409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343400"/>
                        <a:ext cx="35814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1" name="Text Box 22">
            <a:extLst>
              <a:ext uri="{FF2B5EF4-FFF2-40B4-BE49-F238E27FC236}">
                <a16:creationId xmlns:a16="http://schemas.microsoft.com/office/drawing/2014/main" id="{0C153F5C-D603-65B2-E4F2-75385F933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572000"/>
            <a:ext cx="155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Examples:</a:t>
            </a:r>
          </a:p>
        </p:txBody>
      </p:sp>
      <p:sp>
        <p:nvSpPr>
          <p:cNvPr id="3082" name="Text Box 23">
            <a:extLst>
              <a:ext uri="{FF2B5EF4-FFF2-40B4-BE49-F238E27FC236}">
                <a16:creationId xmlns:a16="http://schemas.microsoft.com/office/drawing/2014/main" id="{20F87731-9486-1336-B667-997C53C1A1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5105400"/>
            <a:ext cx="4648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3333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Integrating circuit,  integrating motor,  integrating wheel…</a:t>
            </a:r>
            <a:endParaRPr kumimoji="1" lang="en-US" altLang="zh-CN" sz="2400" b="1">
              <a:solidFill>
                <a:srgbClr val="463634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>
            <a:extLst>
              <a:ext uri="{FF2B5EF4-FFF2-40B4-BE49-F238E27FC236}">
                <a16:creationId xmlns:a16="http://schemas.microsoft.com/office/drawing/2014/main" id="{B9A640FF-CEE5-74ED-1AFA-29E2B84E0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4267200" cy="5334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F9212B"/>
                </a:solidFill>
              </a:rPr>
              <a:t>3    Differentiating element</a:t>
            </a:r>
          </a:p>
        </p:txBody>
      </p:sp>
      <p:sp>
        <p:nvSpPr>
          <p:cNvPr id="4099" name="Text Box 16">
            <a:extLst>
              <a:ext uri="{FF2B5EF4-FFF2-40B4-BE49-F238E27FC236}">
                <a16:creationId xmlns:a16="http://schemas.microsoft.com/office/drawing/2014/main" id="{5EE6216B-00F8-3196-9946-451A4715F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Relationship between the input and output variables:</a:t>
            </a:r>
          </a:p>
        </p:txBody>
      </p:sp>
      <p:graphicFrame>
        <p:nvGraphicFramePr>
          <p:cNvPr id="4100" name="Object 17">
            <a:extLst>
              <a:ext uri="{FF2B5EF4-FFF2-40B4-BE49-F238E27FC236}">
                <a16:creationId xmlns:a16="http://schemas.microsoft.com/office/drawing/2014/main" id="{67D15B58-4D30-0FBD-C707-FBE3509A1E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160588"/>
          <a:ext cx="19050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37999" imgH="366627" progId="Equation.3">
                  <p:embed/>
                </p:oleObj>
              </mc:Choice>
              <mc:Fallback>
                <p:oleObj name="Equation" r:id="rId2" imgW="937999" imgH="366627" progId="Equation.3">
                  <p:embed/>
                  <p:pic>
                    <p:nvPicPr>
                      <p:cNvPr id="4100" name="Object 17">
                        <a:extLst>
                          <a:ext uri="{FF2B5EF4-FFF2-40B4-BE49-F238E27FC236}">
                            <a16:creationId xmlns:a16="http://schemas.microsoft.com/office/drawing/2014/main" id="{67D15B58-4D30-0FBD-C707-FBE3509A1E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160588"/>
                        <a:ext cx="19050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Text Box 18">
            <a:extLst>
              <a:ext uri="{FF2B5EF4-FFF2-40B4-BE49-F238E27FC236}">
                <a16:creationId xmlns:a16="http://schemas.microsoft.com/office/drawing/2014/main" id="{B173678E-8084-D19E-C3F0-8D31E0A68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24200"/>
            <a:ext cx="260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Transfer function:</a:t>
            </a:r>
          </a:p>
        </p:txBody>
      </p:sp>
      <p:graphicFrame>
        <p:nvGraphicFramePr>
          <p:cNvPr id="4102" name="Object 19">
            <a:extLst>
              <a:ext uri="{FF2B5EF4-FFF2-40B4-BE49-F238E27FC236}">
                <a16:creationId xmlns:a16="http://schemas.microsoft.com/office/drawing/2014/main" id="{B80F39B9-516E-B709-F530-31B8345D3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3763" y="2984500"/>
          <a:ext cx="22955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85763" imgH="395391" progId="Equation.3">
                  <p:embed/>
                </p:oleObj>
              </mc:Choice>
              <mc:Fallback>
                <p:oleObj name="Equation" r:id="rId4" imgW="1185763" imgH="395391" progId="Equation.3">
                  <p:embed/>
                  <p:pic>
                    <p:nvPicPr>
                      <p:cNvPr id="4102" name="Object 19">
                        <a:extLst>
                          <a:ext uri="{FF2B5EF4-FFF2-40B4-BE49-F238E27FC236}">
                            <a16:creationId xmlns:a16="http://schemas.microsoft.com/office/drawing/2014/main" id="{B80F39B9-516E-B709-F530-31B8345D30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2984500"/>
                        <a:ext cx="22955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Text Box 20">
            <a:extLst>
              <a:ext uri="{FF2B5EF4-FFF2-40B4-BE49-F238E27FC236}">
                <a16:creationId xmlns:a16="http://schemas.microsoft.com/office/drawing/2014/main" id="{1887E72F-9665-C7A9-C3C7-C12FC092A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86200"/>
            <a:ext cx="739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Block diagram representation and unit step response:</a:t>
            </a:r>
          </a:p>
        </p:txBody>
      </p:sp>
      <p:sp>
        <p:nvSpPr>
          <p:cNvPr id="4104" name="Text Box 21">
            <a:extLst>
              <a:ext uri="{FF2B5EF4-FFF2-40B4-BE49-F238E27FC236}">
                <a16:creationId xmlns:a16="http://schemas.microsoft.com/office/drawing/2014/main" id="{2F87C99D-5B30-0638-3B51-E511698EF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572000"/>
            <a:ext cx="184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Examples:</a:t>
            </a:r>
          </a:p>
        </p:txBody>
      </p:sp>
      <p:sp>
        <p:nvSpPr>
          <p:cNvPr id="4105" name="Text Box 22">
            <a:extLst>
              <a:ext uri="{FF2B5EF4-FFF2-40B4-BE49-F238E27FC236}">
                <a16:creationId xmlns:a16="http://schemas.microsoft.com/office/drawing/2014/main" id="{0A02C3E9-C0E5-AFAF-E16C-9A558FF3C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105400"/>
            <a:ext cx="5181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3333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differentiating amplifier, differential valve, differential condenser…</a:t>
            </a:r>
          </a:p>
        </p:txBody>
      </p:sp>
      <p:graphicFrame>
        <p:nvGraphicFramePr>
          <p:cNvPr id="4106" name="Object 23">
            <a:extLst>
              <a:ext uri="{FF2B5EF4-FFF2-40B4-BE49-F238E27FC236}">
                <a16:creationId xmlns:a16="http://schemas.microsoft.com/office/drawing/2014/main" id="{AB06AC48-9C2B-7BA4-17FC-CF3F8409B8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4419600"/>
          <a:ext cx="35814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014151" imgH="1008761" progId="Visio.Drawing.6">
                  <p:embed/>
                </p:oleObj>
              </mc:Choice>
              <mc:Fallback>
                <p:oleObj name="Visio" r:id="rId6" imgW="2014151" imgH="1008761" progId="Visio.Drawing.6">
                  <p:embed/>
                  <p:pic>
                    <p:nvPicPr>
                      <p:cNvPr id="4106" name="Object 23">
                        <a:extLst>
                          <a:ext uri="{FF2B5EF4-FFF2-40B4-BE49-F238E27FC236}">
                            <a16:creationId xmlns:a16="http://schemas.microsoft.com/office/drawing/2014/main" id="{AB06AC48-9C2B-7BA4-17FC-CF3F8409B8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419600"/>
                        <a:ext cx="35814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4">
            <a:extLst>
              <a:ext uri="{FF2B5EF4-FFF2-40B4-BE49-F238E27FC236}">
                <a16:creationId xmlns:a16="http://schemas.microsoft.com/office/drawing/2014/main" id="{1F7A8D44-222A-4C5B-DD7D-4C8E4EB84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105400" cy="5334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F9212B"/>
                </a:solidFill>
              </a:rPr>
              <a:t>4  First Order Systems</a:t>
            </a:r>
          </a:p>
        </p:txBody>
      </p:sp>
      <p:sp>
        <p:nvSpPr>
          <p:cNvPr id="5123" name="Text Box 16">
            <a:extLst>
              <a:ext uri="{FF2B5EF4-FFF2-40B4-BE49-F238E27FC236}">
                <a16:creationId xmlns:a16="http://schemas.microsoft.com/office/drawing/2014/main" id="{CDCB35CE-5082-1C9B-F11F-FB1AE85C2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754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Relationship between the input and output variables:</a:t>
            </a:r>
          </a:p>
        </p:txBody>
      </p:sp>
      <p:graphicFrame>
        <p:nvGraphicFramePr>
          <p:cNvPr id="5124" name="Object 17">
            <a:extLst>
              <a:ext uri="{FF2B5EF4-FFF2-40B4-BE49-F238E27FC236}">
                <a16:creationId xmlns:a16="http://schemas.microsoft.com/office/drawing/2014/main" id="{87E0BEBD-28F6-D3A5-2B0B-4FEDC61262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60488" y="2160588"/>
          <a:ext cx="314483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9889" imgH="366627" progId="Equation.3">
                  <p:embed/>
                </p:oleObj>
              </mc:Choice>
              <mc:Fallback>
                <p:oleObj name="Equation" r:id="rId2" imgW="1309889" imgH="366627" progId="Equation.3">
                  <p:embed/>
                  <p:pic>
                    <p:nvPicPr>
                      <p:cNvPr id="5124" name="Object 17">
                        <a:extLst>
                          <a:ext uri="{FF2B5EF4-FFF2-40B4-BE49-F238E27FC236}">
                            <a16:creationId xmlns:a16="http://schemas.microsoft.com/office/drawing/2014/main" id="{87E0BEBD-28F6-D3A5-2B0B-4FEDC61262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0488" y="2160588"/>
                        <a:ext cx="3144837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Text Box 18">
            <a:extLst>
              <a:ext uri="{FF2B5EF4-FFF2-40B4-BE49-F238E27FC236}">
                <a16:creationId xmlns:a16="http://schemas.microsoft.com/office/drawing/2014/main" id="{2541689F-3627-5FFD-D03B-E3CD0904E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24200"/>
            <a:ext cx="260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Transfer function:</a:t>
            </a:r>
          </a:p>
        </p:txBody>
      </p:sp>
      <p:graphicFrame>
        <p:nvGraphicFramePr>
          <p:cNvPr id="5126" name="Object 19">
            <a:extLst>
              <a:ext uri="{FF2B5EF4-FFF2-40B4-BE49-F238E27FC236}">
                <a16:creationId xmlns:a16="http://schemas.microsoft.com/office/drawing/2014/main" id="{41C66481-E3F8-B8D5-3A5E-79E187083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2984500"/>
          <a:ext cx="25384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9889" imgH="395391" progId="Equation.3">
                  <p:embed/>
                </p:oleObj>
              </mc:Choice>
              <mc:Fallback>
                <p:oleObj name="Equation" r:id="rId4" imgW="1309889" imgH="395391" progId="Equation.3">
                  <p:embed/>
                  <p:pic>
                    <p:nvPicPr>
                      <p:cNvPr id="5126" name="Object 19">
                        <a:extLst>
                          <a:ext uri="{FF2B5EF4-FFF2-40B4-BE49-F238E27FC236}">
                            <a16:creationId xmlns:a16="http://schemas.microsoft.com/office/drawing/2014/main" id="{41C66481-E3F8-B8D5-3A5E-79E1870835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2984500"/>
                        <a:ext cx="25384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 Box 20">
            <a:extLst>
              <a:ext uri="{FF2B5EF4-FFF2-40B4-BE49-F238E27FC236}">
                <a16:creationId xmlns:a16="http://schemas.microsoft.com/office/drawing/2014/main" id="{AC547CCF-A7EC-1126-2F14-5C8BAA0B6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Block diagram representation and unit step response:</a:t>
            </a:r>
          </a:p>
        </p:txBody>
      </p:sp>
      <p:sp>
        <p:nvSpPr>
          <p:cNvPr id="5128" name="Text Box 21">
            <a:extLst>
              <a:ext uri="{FF2B5EF4-FFF2-40B4-BE49-F238E27FC236}">
                <a16:creationId xmlns:a16="http://schemas.microsoft.com/office/drawing/2014/main" id="{664CAF92-4B8E-26CE-1DC7-A75B0B3FE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572000"/>
            <a:ext cx="184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Examples:</a:t>
            </a:r>
          </a:p>
        </p:txBody>
      </p:sp>
      <p:sp>
        <p:nvSpPr>
          <p:cNvPr id="5129" name="Text Box 22">
            <a:extLst>
              <a:ext uri="{FF2B5EF4-FFF2-40B4-BE49-F238E27FC236}">
                <a16:creationId xmlns:a16="http://schemas.microsoft.com/office/drawing/2014/main" id="{294C0AF1-89F6-07CD-9BFD-7FB284428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105400"/>
            <a:ext cx="464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RC circuits</a:t>
            </a:r>
          </a:p>
        </p:txBody>
      </p:sp>
      <p:graphicFrame>
        <p:nvGraphicFramePr>
          <p:cNvPr id="5130" name="Object 23">
            <a:extLst>
              <a:ext uri="{FF2B5EF4-FFF2-40B4-BE49-F238E27FC236}">
                <a16:creationId xmlns:a16="http://schemas.microsoft.com/office/drawing/2014/main" id="{4FD78C66-7288-D306-86BC-64EE3AB702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4343400"/>
          <a:ext cx="33528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978388" imgH="1141594" progId="Visio.Drawing.6">
                  <p:embed/>
                </p:oleObj>
              </mc:Choice>
              <mc:Fallback>
                <p:oleObj name="Visio" r:id="rId6" imgW="1978388" imgH="1141594" progId="Visio.Drawing.6">
                  <p:embed/>
                  <p:pic>
                    <p:nvPicPr>
                      <p:cNvPr id="5130" name="Object 23">
                        <a:extLst>
                          <a:ext uri="{FF2B5EF4-FFF2-40B4-BE49-F238E27FC236}">
                            <a16:creationId xmlns:a16="http://schemas.microsoft.com/office/drawing/2014/main" id="{4FD78C66-7288-D306-86BC-64EE3AB702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343400"/>
                        <a:ext cx="33528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5">
            <a:extLst>
              <a:ext uri="{FF2B5EF4-FFF2-40B4-BE49-F238E27FC236}">
                <a16:creationId xmlns:a16="http://schemas.microsoft.com/office/drawing/2014/main" id="{FF091267-130E-04E6-3EDD-F79FD4BDC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990600"/>
            <a:ext cx="3810000" cy="5334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F9212B"/>
                </a:solidFill>
              </a:rPr>
              <a:t>5  Second Order System</a:t>
            </a:r>
          </a:p>
        </p:txBody>
      </p:sp>
      <p:sp>
        <p:nvSpPr>
          <p:cNvPr id="6147" name="Text Box 16">
            <a:extLst>
              <a:ext uri="{FF2B5EF4-FFF2-40B4-BE49-F238E27FC236}">
                <a16:creationId xmlns:a16="http://schemas.microsoft.com/office/drawing/2014/main" id="{722085FC-C195-0C64-20D2-97A38ADC6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Relationship between the input and output variables:</a:t>
            </a:r>
          </a:p>
        </p:txBody>
      </p:sp>
      <p:graphicFrame>
        <p:nvGraphicFramePr>
          <p:cNvPr id="6148" name="Object 17">
            <a:extLst>
              <a:ext uri="{FF2B5EF4-FFF2-40B4-BE49-F238E27FC236}">
                <a16:creationId xmlns:a16="http://schemas.microsoft.com/office/drawing/2014/main" id="{3446DAC1-E457-A75A-0FF1-DD8A27FF5A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1828800"/>
          <a:ext cx="6477000" cy="101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24281" imgH="433419" progId="Equation.3">
                  <p:embed/>
                </p:oleObj>
              </mc:Choice>
              <mc:Fallback>
                <p:oleObj name="Equation" r:id="rId2" imgW="3024281" imgH="433419" progId="Equation.3">
                  <p:embed/>
                  <p:pic>
                    <p:nvPicPr>
                      <p:cNvPr id="6148" name="Object 17">
                        <a:extLst>
                          <a:ext uri="{FF2B5EF4-FFF2-40B4-BE49-F238E27FC236}">
                            <a16:creationId xmlns:a16="http://schemas.microsoft.com/office/drawing/2014/main" id="{3446DAC1-E457-A75A-0FF1-DD8A27FF5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828800"/>
                        <a:ext cx="6477000" cy="101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18">
            <a:extLst>
              <a:ext uri="{FF2B5EF4-FFF2-40B4-BE49-F238E27FC236}">
                <a16:creationId xmlns:a16="http://schemas.microsoft.com/office/drawing/2014/main" id="{9E9EF567-7EAA-55D2-6097-46F2CE71F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71800"/>
            <a:ext cx="260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Transfer function:</a:t>
            </a:r>
          </a:p>
        </p:txBody>
      </p:sp>
      <p:graphicFrame>
        <p:nvGraphicFramePr>
          <p:cNvPr id="6150" name="Object 19">
            <a:extLst>
              <a:ext uri="{FF2B5EF4-FFF2-40B4-BE49-F238E27FC236}">
                <a16:creationId xmlns:a16="http://schemas.microsoft.com/office/drawing/2014/main" id="{BBD4293C-AE91-965C-AC80-D832FF22AD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2819400"/>
          <a:ext cx="52562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5500" imgH="423668" progId="Equation.3">
                  <p:embed/>
                </p:oleObj>
              </mc:Choice>
              <mc:Fallback>
                <p:oleObj name="Equation" r:id="rId4" imgW="2795500" imgH="423668" progId="Equation.3">
                  <p:embed/>
                  <p:pic>
                    <p:nvPicPr>
                      <p:cNvPr id="6150" name="Object 19">
                        <a:extLst>
                          <a:ext uri="{FF2B5EF4-FFF2-40B4-BE49-F238E27FC236}">
                            <a16:creationId xmlns:a16="http://schemas.microsoft.com/office/drawing/2014/main" id="{BBD4293C-AE91-965C-AC80-D832FF22A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819400"/>
                        <a:ext cx="52562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20">
            <a:extLst>
              <a:ext uri="{FF2B5EF4-FFF2-40B4-BE49-F238E27FC236}">
                <a16:creationId xmlns:a16="http://schemas.microsoft.com/office/drawing/2014/main" id="{8EA314A0-1ED7-15AB-230F-0BB0275F5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657600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Block diagram representation and unit step response:</a:t>
            </a:r>
          </a:p>
        </p:txBody>
      </p:sp>
      <p:sp>
        <p:nvSpPr>
          <p:cNvPr id="6152" name="Text Box 21">
            <a:extLst>
              <a:ext uri="{FF2B5EF4-FFF2-40B4-BE49-F238E27FC236}">
                <a16:creationId xmlns:a16="http://schemas.microsoft.com/office/drawing/2014/main" id="{5C84035C-C352-73A5-CE6F-5E218CDC5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343400"/>
            <a:ext cx="184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Examples:</a:t>
            </a:r>
          </a:p>
        </p:txBody>
      </p:sp>
      <p:sp>
        <p:nvSpPr>
          <p:cNvPr id="6153" name="Text Box 22">
            <a:extLst>
              <a:ext uri="{FF2B5EF4-FFF2-40B4-BE49-F238E27FC236}">
                <a16:creationId xmlns:a16="http://schemas.microsoft.com/office/drawing/2014/main" id="{1B17D798-553C-607D-53DF-7ED9FE141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876800"/>
            <a:ext cx="3810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3333FF"/>
                </a:solidFill>
                <a:latin typeface="Times New Roman" panose="02020603050405020304" pitchFamily="18" charset="0"/>
              </a:rPr>
              <a:t>  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oscillator, oscillating table,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oscillating circuit…</a:t>
            </a:r>
          </a:p>
        </p:txBody>
      </p:sp>
      <p:graphicFrame>
        <p:nvGraphicFramePr>
          <p:cNvPr id="6154" name="Object 23">
            <a:extLst>
              <a:ext uri="{FF2B5EF4-FFF2-40B4-BE49-F238E27FC236}">
                <a16:creationId xmlns:a16="http://schemas.microsoft.com/office/drawing/2014/main" id="{5B439E95-8822-B01A-51A0-930D8A23CC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" y="4267200"/>
          <a:ext cx="48006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927655" imgH="1279935" progId="Visio.Drawing.6">
                  <p:embed/>
                </p:oleObj>
              </mc:Choice>
              <mc:Fallback>
                <p:oleObj name="Visio" r:id="rId6" imgW="2927655" imgH="1279935" progId="Visio.Drawing.6">
                  <p:embed/>
                  <p:pic>
                    <p:nvPicPr>
                      <p:cNvPr id="6154" name="Object 23">
                        <a:extLst>
                          <a:ext uri="{FF2B5EF4-FFF2-40B4-BE49-F238E27FC236}">
                            <a16:creationId xmlns:a16="http://schemas.microsoft.com/office/drawing/2014/main" id="{5B439E95-8822-B01A-51A0-930D8A23CC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267200"/>
                        <a:ext cx="48006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4">
            <a:extLst>
              <a:ext uri="{FF2B5EF4-FFF2-40B4-BE49-F238E27FC236}">
                <a16:creationId xmlns:a16="http://schemas.microsoft.com/office/drawing/2014/main" id="{B42122B9-0C9E-A27E-BB67-4728116A9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685800"/>
            <a:ext cx="7239000" cy="5334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400" b="1">
                <a:solidFill>
                  <a:srgbClr val="F9212B"/>
                </a:solidFill>
              </a:rPr>
              <a:t>6    Delay element (Transportation Lag)</a:t>
            </a:r>
          </a:p>
        </p:txBody>
      </p:sp>
      <p:sp>
        <p:nvSpPr>
          <p:cNvPr id="7171" name="Text Box 16">
            <a:extLst>
              <a:ext uri="{FF2B5EF4-FFF2-40B4-BE49-F238E27FC236}">
                <a16:creationId xmlns:a16="http://schemas.microsoft.com/office/drawing/2014/main" id="{CF39E7BC-0F69-A426-6FEB-B128D9CE4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002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Relationship between the input and output variables:</a:t>
            </a:r>
          </a:p>
        </p:txBody>
      </p:sp>
      <p:graphicFrame>
        <p:nvGraphicFramePr>
          <p:cNvPr id="7172" name="Object 17">
            <a:extLst>
              <a:ext uri="{FF2B5EF4-FFF2-40B4-BE49-F238E27FC236}">
                <a16:creationId xmlns:a16="http://schemas.microsoft.com/office/drawing/2014/main" id="{F43B8639-4568-B4AD-8EF6-54D026FA19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9750" y="2366963"/>
          <a:ext cx="22447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8751" imgH="176000" progId="Equation.3">
                  <p:embed/>
                </p:oleObj>
              </mc:Choice>
              <mc:Fallback>
                <p:oleObj name="Equation" r:id="rId2" imgW="928751" imgH="176000" progId="Equation.3">
                  <p:embed/>
                  <p:pic>
                    <p:nvPicPr>
                      <p:cNvPr id="7172" name="Object 17">
                        <a:extLst>
                          <a:ext uri="{FF2B5EF4-FFF2-40B4-BE49-F238E27FC236}">
                            <a16:creationId xmlns:a16="http://schemas.microsoft.com/office/drawing/2014/main" id="{F43B8639-4568-B4AD-8EF6-54D026FA19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2366963"/>
                        <a:ext cx="22447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18">
            <a:extLst>
              <a:ext uri="{FF2B5EF4-FFF2-40B4-BE49-F238E27FC236}">
                <a16:creationId xmlns:a16="http://schemas.microsoft.com/office/drawing/2014/main" id="{4F92FC42-7771-D0FD-28E6-27A9D39C9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71800"/>
            <a:ext cx="2603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Transfer function:</a:t>
            </a:r>
          </a:p>
        </p:txBody>
      </p:sp>
      <p:graphicFrame>
        <p:nvGraphicFramePr>
          <p:cNvPr id="7174" name="Object 19">
            <a:extLst>
              <a:ext uri="{FF2B5EF4-FFF2-40B4-BE49-F238E27FC236}">
                <a16:creationId xmlns:a16="http://schemas.microsoft.com/office/drawing/2014/main" id="{466DE16B-8FE0-C756-646D-34409A1E43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4225" y="2832100"/>
          <a:ext cx="25177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0153" imgH="395391" progId="Equation.3">
                  <p:embed/>
                </p:oleObj>
              </mc:Choice>
              <mc:Fallback>
                <p:oleObj name="Equation" r:id="rId4" imgW="1300153" imgH="395391" progId="Equation.3">
                  <p:embed/>
                  <p:pic>
                    <p:nvPicPr>
                      <p:cNvPr id="7174" name="Object 19">
                        <a:extLst>
                          <a:ext uri="{FF2B5EF4-FFF2-40B4-BE49-F238E27FC236}">
                            <a16:creationId xmlns:a16="http://schemas.microsoft.com/office/drawing/2014/main" id="{466DE16B-8FE0-C756-646D-34409A1E43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2832100"/>
                        <a:ext cx="25177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5" name="Text Box 20">
            <a:extLst>
              <a:ext uri="{FF2B5EF4-FFF2-40B4-BE49-F238E27FC236}">
                <a16:creationId xmlns:a16="http://schemas.microsoft.com/office/drawing/2014/main" id="{6DEC0002-F485-9749-2166-64694CD77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657600"/>
            <a:ext cx="746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Block diagram representation and unit step response:</a:t>
            </a:r>
          </a:p>
        </p:txBody>
      </p:sp>
      <p:sp>
        <p:nvSpPr>
          <p:cNvPr id="7176" name="Text Box 21">
            <a:extLst>
              <a:ext uri="{FF2B5EF4-FFF2-40B4-BE49-F238E27FC236}">
                <a16:creationId xmlns:a16="http://schemas.microsoft.com/office/drawing/2014/main" id="{BEECFB9E-FC09-8C2E-367C-78F3A068A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419600"/>
            <a:ext cx="1849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Examples:</a:t>
            </a:r>
          </a:p>
        </p:txBody>
      </p:sp>
      <p:sp>
        <p:nvSpPr>
          <p:cNvPr id="7177" name="Text Box 22">
            <a:extLst>
              <a:ext uri="{FF2B5EF4-FFF2-40B4-BE49-F238E27FC236}">
                <a16:creationId xmlns:a16="http://schemas.microsoft.com/office/drawing/2014/main" id="{6A882480-8D4C-F3DC-C94B-DCDE1E3C2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876800"/>
            <a:ext cx="472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solidFill>
                  <a:srgbClr val="3333FF"/>
                </a:solidFill>
                <a:latin typeface="Times New Roman" panose="02020603050405020304" pitchFamily="18" charset="0"/>
              </a:rPr>
              <a:t>    </a:t>
            </a:r>
            <a:r>
              <a:rPr kumimoji="1" lang="en-US" altLang="zh-CN" sz="2400" b="1">
                <a:solidFill>
                  <a:srgbClr val="3333FF"/>
                </a:solidFill>
                <a:latin typeface="Times New Roman" panose="02020603050405020304" pitchFamily="18" charset="0"/>
              </a:rPr>
              <a:t>gap effect of gear mechanism, threshold voltage of transistors…</a:t>
            </a:r>
          </a:p>
        </p:txBody>
      </p:sp>
      <p:graphicFrame>
        <p:nvGraphicFramePr>
          <p:cNvPr id="7178" name="Object 23">
            <a:extLst>
              <a:ext uri="{FF2B5EF4-FFF2-40B4-BE49-F238E27FC236}">
                <a16:creationId xmlns:a16="http://schemas.microsoft.com/office/drawing/2014/main" id="{76BED858-2A36-719C-4167-7874B612C8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" y="4191000"/>
          <a:ext cx="38100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2265193" imgH="1129222" progId="Visio.Drawing.6">
                  <p:embed/>
                </p:oleObj>
              </mc:Choice>
              <mc:Fallback>
                <p:oleObj name="Visio" r:id="rId6" imgW="2265193" imgH="1129222" progId="Visio.Drawing.6">
                  <p:embed/>
                  <p:pic>
                    <p:nvPicPr>
                      <p:cNvPr id="7178" name="Object 23">
                        <a:extLst>
                          <a:ext uri="{FF2B5EF4-FFF2-40B4-BE49-F238E27FC236}">
                            <a16:creationId xmlns:a16="http://schemas.microsoft.com/office/drawing/2014/main" id="{76BED858-2A36-719C-4167-7874B612C8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91000"/>
                        <a:ext cx="38100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>
            <a:extLst>
              <a:ext uri="{FF2B5EF4-FFF2-40B4-BE49-F238E27FC236}">
                <a16:creationId xmlns:a16="http://schemas.microsoft.com/office/drawing/2014/main" id="{62317533-A8C5-2B41-2B7C-DDCF9711E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  <a:noFill/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rgbClr val="FF0000"/>
                </a:solidFill>
                <a:latin typeface="Comic Sans MS" panose="030F0702030302020204" pitchFamily="66" charset="0"/>
              </a:rPr>
              <a:t>An Example-Second Order System</a:t>
            </a:r>
          </a:p>
        </p:txBody>
      </p:sp>
      <p:sp>
        <p:nvSpPr>
          <p:cNvPr id="8195" name="Rectangle 15">
            <a:extLst>
              <a:ext uri="{FF2B5EF4-FFF2-40B4-BE49-F238E27FC236}">
                <a16:creationId xmlns:a16="http://schemas.microsoft.com/office/drawing/2014/main" id="{1E8210F5-D6D9-4E4A-D9CD-C44160AB9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57600"/>
            <a:ext cx="2590800" cy="29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R=1;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L=.4;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 C=1e-3;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 n=1;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 d=[L*C R*C 1];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 s=tf(n,d)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en-US" sz="18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600" b="1">
                <a:latin typeface="Arial" panose="020B0604020202020204" pitchFamily="34" charset="0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600" b="1">
                <a:latin typeface="Arial" panose="020B0604020202020204" pitchFamily="34" charset="0"/>
              </a:rPr>
              <a:t>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600" b="1">
                <a:latin typeface="Arial" panose="020B0604020202020204" pitchFamily="34" charset="0"/>
              </a:rPr>
              <a:t>0.0004 s^2 + 0.001 s + 1</a:t>
            </a:r>
            <a:endParaRPr lang="en-US" altLang="en-US" sz="16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en-US" sz="1600" b="1">
              <a:latin typeface="Arial" panose="020B0604020202020204" pitchFamily="34" charset="0"/>
            </a:endParaRPr>
          </a:p>
        </p:txBody>
      </p:sp>
      <p:sp>
        <p:nvSpPr>
          <p:cNvPr id="8196" name="Rectangle 16">
            <a:extLst>
              <a:ext uri="{FF2B5EF4-FFF2-40B4-BE49-F238E27FC236}">
                <a16:creationId xmlns:a16="http://schemas.microsoft.com/office/drawing/2014/main" id="{10A8FFC4-044C-146E-262C-6ACAC1BC4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581400"/>
            <a:ext cx="2287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1800">
                <a:latin typeface="Arial" panose="020B0604020202020204" pitchFamily="34" charset="0"/>
              </a:rPr>
              <a:t>ω</a:t>
            </a:r>
            <a:r>
              <a:rPr lang="en-US" altLang="en-US" sz="1800" baseline="-25000">
                <a:latin typeface="Arial" panose="020B0604020202020204" pitchFamily="34" charset="0"/>
              </a:rPr>
              <a:t>n</a:t>
            </a:r>
            <a:r>
              <a:rPr lang="en-US" altLang="en-US" sz="1800">
                <a:latin typeface="Arial" panose="020B0604020202020204" pitchFamily="34" charset="0"/>
              </a:rPr>
              <a:t>=sqrt(1/(L*C))= 50</a:t>
            </a:r>
          </a:p>
        </p:txBody>
      </p:sp>
      <p:sp>
        <p:nvSpPr>
          <p:cNvPr id="8197" name="Rectangle 17">
            <a:extLst>
              <a:ext uri="{FF2B5EF4-FFF2-40B4-BE49-F238E27FC236}">
                <a16:creationId xmlns:a16="http://schemas.microsoft.com/office/drawing/2014/main" id="{3AAF5358-9174-BC81-7E3B-09D4E30ED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814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1800">
                <a:latin typeface="Arial" panose="020B0604020202020204" pitchFamily="34" charset="0"/>
              </a:rPr>
              <a:t>ζ</a:t>
            </a:r>
            <a:r>
              <a:rPr lang="en-US" altLang="en-US" sz="1800">
                <a:latin typeface="Arial" panose="020B0604020202020204" pitchFamily="34" charset="0"/>
              </a:rPr>
              <a:t>=(R/2)*sqrt(C/L)=0.0250</a:t>
            </a:r>
          </a:p>
        </p:txBody>
      </p:sp>
      <p:sp>
        <p:nvSpPr>
          <p:cNvPr id="8198" name="Text Box 18">
            <a:extLst>
              <a:ext uri="{FF2B5EF4-FFF2-40B4-BE49-F238E27FC236}">
                <a16:creationId xmlns:a16="http://schemas.microsoft.com/office/drawing/2014/main" id="{E285C2DB-AB80-D85D-B11C-BD8A8D6C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191000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8199" name="Text Box 20">
            <a:extLst>
              <a:ext uri="{FF2B5EF4-FFF2-40B4-BE49-F238E27FC236}">
                <a16:creationId xmlns:a16="http://schemas.microsoft.com/office/drawing/2014/main" id="{FCDBB7AA-B92F-74DC-28B3-252057951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676400"/>
            <a:ext cx="914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200" b="1">
                <a:latin typeface="Arial" panose="020B0604020202020204" pitchFamily="34" charset="0"/>
              </a:rPr>
              <a:t>z</a:t>
            </a:r>
            <a:r>
              <a:rPr lang="en-US" altLang="en-US" sz="1200" b="1" baseline="-25000">
                <a:latin typeface="Arial" panose="020B0604020202020204" pitchFamily="34" charset="0"/>
              </a:rPr>
              <a:t>1</a:t>
            </a:r>
            <a:r>
              <a:rPr lang="en-US" altLang="en-US" sz="1200" b="1">
                <a:latin typeface="Arial" panose="020B0604020202020204" pitchFamily="34" charset="0"/>
              </a:rPr>
              <a:t>(s)+z</a:t>
            </a:r>
            <a:r>
              <a:rPr lang="en-US" altLang="en-US" sz="1200" b="1" baseline="-25000">
                <a:latin typeface="Arial" panose="020B0604020202020204" pitchFamily="34" charset="0"/>
              </a:rPr>
              <a:t>2</a:t>
            </a:r>
            <a:r>
              <a:rPr lang="en-US" altLang="en-US" sz="1200" b="1">
                <a:latin typeface="Arial" panose="020B0604020202020204" pitchFamily="34" charset="0"/>
              </a:rPr>
              <a:t>(s)</a:t>
            </a:r>
          </a:p>
        </p:txBody>
      </p:sp>
      <p:pic>
        <p:nvPicPr>
          <p:cNvPr id="8200" name="Picture 21">
            <a:extLst>
              <a:ext uri="{FF2B5EF4-FFF2-40B4-BE49-F238E27FC236}">
                <a16:creationId xmlns:a16="http://schemas.microsoft.com/office/drawing/2014/main" id="{8AC0F953-D456-A918-A857-C179634BF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4550"/>
            <a:ext cx="8229600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21">
            <a:extLst>
              <a:ext uri="{FF2B5EF4-FFF2-40B4-BE49-F238E27FC236}">
                <a16:creationId xmlns:a16="http://schemas.microsoft.com/office/drawing/2014/main" id="{C9461300-3CE7-D4E6-CE10-97DFE1C41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964113"/>
            <a:ext cx="6978650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375ABF8-7F4F-CCEC-B5B5-2CB3351A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rgbClr val="FF0066"/>
                </a:solidFill>
                <a:latin typeface="Times New Roman" panose="02020603050405020304" pitchFamily="18" charset="0"/>
              </a:rPr>
              <a:t>An Example</a:t>
            </a:r>
          </a:p>
        </p:txBody>
      </p:sp>
      <p:sp>
        <p:nvSpPr>
          <p:cNvPr id="9219" name="Rectangle 4">
            <a:extLst>
              <a:ext uri="{FF2B5EF4-FFF2-40B4-BE49-F238E27FC236}">
                <a16:creationId xmlns:a16="http://schemas.microsoft.com/office/drawing/2014/main" id="{A317C6A8-AF50-7618-6063-602515E5D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657600"/>
            <a:ext cx="2590800" cy="299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R=1;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L=.4;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 C=1e-3;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 n=1;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 d=[L*C R*C 1];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800" b="1">
                <a:latin typeface="Arial" panose="020B0604020202020204" pitchFamily="34" charset="0"/>
              </a:rPr>
              <a:t> s=tf(n,d)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en-US" sz="18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600" b="1">
                <a:latin typeface="Arial" panose="020B0604020202020204" pitchFamily="34" charset="0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600" b="1">
                <a:latin typeface="Arial" panose="020B0604020202020204" pitchFamily="34" charset="0"/>
              </a:rPr>
              <a:t>------------------------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en-US" sz="1600" b="1">
                <a:latin typeface="Arial" panose="020B0604020202020204" pitchFamily="34" charset="0"/>
              </a:rPr>
              <a:t>0.0004 s^2 + 0.001 s + 1</a:t>
            </a:r>
            <a:endParaRPr lang="en-US" altLang="en-US" sz="1600" b="1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en-US" sz="1600" b="1">
              <a:latin typeface="Arial" panose="020B0604020202020204" pitchFamily="34" charset="0"/>
            </a:endParaRP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85F7920C-A837-D81D-BFB6-205E6EE73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581400"/>
            <a:ext cx="2287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1800">
                <a:latin typeface="Arial" panose="020B0604020202020204" pitchFamily="34" charset="0"/>
              </a:rPr>
              <a:t>ω</a:t>
            </a:r>
            <a:r>
              <a:rPr lang="en-US" altLang="en-US" sz="1800" baseline="-25000">
                <a:latin typeface="Arial" panose="020B0604020202020204" pitchFamily="34" charset="0"/>
              </a:rPr>
              <a:t>n</a:t>
            </a:r>
            <a:r>
              <a:rPr lang="en-US" altLang="en-US" sz="1800">
                <a:latin typeface="Arial" panose="020B0604020202020204" pitchFamily="34" charset="0"/>
              </a:rPr>
              <a:t>=sqrt(1/(L*C))= 50</a:t>
            </a:r>
          </a:p>
        </p:txBody>
      </p:sp>
      <p:sp>
        <p:nvSpPr>
          <p:cNvPr id="9221" name="Rectangle 6">
            <a:extLst>
              <a:ext uri="{FF2B5EF4-FFF2-40B4-BE49-F238E27FC236}">
                <a16:creationId xmlns:a16="http://schemas.microsoft.com/office/drawing/2014/main" id="{5A8696CA-6E38-F2A5-6C51-1E9760F51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581400"/>
            <a:ext cx="2971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en-US" sz="1800">
                <a:latin typeface="Arial" panose="020B0604020202020204" pitchFamily="34" charset="0"/>
              </a:rPr>
              <a:t>ζ</a:t>
            </a:r>
            <a:r>
              <a:rPr lang="en-US" altLang="en-US" sz="1800">
                <a:latin typeface="Arial" panose="020B0604020202020204" pitchFamily="34" charset="0"/>
              </a:rPr>
              <a:t>=(R/2)*sqrt(C/L)=0.0250</a:t>
            </a:r>
          </a:p>
        </p:txBody>
      </p:sp>
      <p:sp>
        <p:nvSpPr>
          <p:cNvPr id="9222" name="Text Box 7">
            <a:extLst>
              <a:ext uri="{FF2B5EF4-FFF2-40B4-BE49-F238E27FC236}">
                <a16:creationId xmlns:a16="http://schemas.microsoft.com/office/drawing/2014/main" id="{9BAC5C0A-EC2E-5D4C-2C21-050BF31E9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4191000"/>
            <a:ext cx="5410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9223" name="Picture 8" descr="SIMRLC">
            <a:extLst>
              <a:ext uri="{FF2B5EF4-FFF2-40B4-BE49-F238E27FC236}">
                <a16:creationId xmlns:a16="http://schemas.microsoft.com/office/drawing/2014/main" id="{A7C2E6D0-B5D9-3DD4-DE26-9335D882CE8B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2800" y="4495800"/>
            <a:ext cx="4953000" cy="1814513"/>
          </a:xfrm>
          <a:noFill/>
        </p:spPr>
      </p:pic>
      <p:pic>
        <p:nvPicPr>
          <p:cNvPr id="9224" name="Picture 9">
            <a:extLst>
              <a:ext uri="{FF2B5EF4-FFF2-40B4-BE49-F238E27FC236}">
                <a16:creationId xmlns:a16="http://schemas.microsoft.com/office/drawing/2014/main" id="{62406AAF-61C6-20B9-EEE4-BC5B82A11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713422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3">
            <a:extLst>
              <a:ext uri="{FF2B5EF4-FFF2-40B4-BE49-F238E27FC236}">
                <a16:creationId xmlns:a16="http://schemas.microsoft.com/office/drawing/2014/main" id="{C149F1D8-7E06-CE31-2956-2A9DEFA7CC96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19200"/>
            <a:ext cx="8382000" cy="4178300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84BCC90-5776-26E7-BA27-1C736014C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Step response</a:t>
            </a:r>
            <a:r>
              <a:rPr lang="en-US" altLang="en-US"/>
              <a:t> </a:t>
            </a:r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id="{4C34BBDD-88A7-B2EA-893A-1D23BD4C7511}"/>
              </a:ext>
            </a:extLst>
          </p:cNvPr>
          <p:cNvPicPr>
            <a:picLocks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2286000"/>
            <a:ext cx="4648200" cy="2133600"/>
          </a:xfrm>
          <a:noFill/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A0ED1106-4CE9-D670-4913-8E490F26E734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2362200"/>
            <a:ext cx="3962400" cy="3255963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E6795E1F-6549-921E-E335-E4D1EEA66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3400" y="-609600"/>
            <a:ext cx="10001250" cy="715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598</Words>
  <Application>Microsoft Office PowerPoint</Application>
  <PresentationFormat>On-screen Show (4:3)</PresentationFormat>
  <Paragraphs>86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Aptos</vt:lpstr>
      <vt:lpstr>Times New Roman</vt:lpstr>
      <vt:lpstr>Default Design</vt:lpstr>
      <vt:lpstr>MathType 7.0 Equation</vt:lpstr>
      <vt:lpstr>Microsoft 公式 3.0</vt:lpstr>
      <vt:lpstr>Microsoft Visio Drawing</vt:lpstr>
      <vt:lpstr>Network Functions</vt:lpstr>
      <vt:lpstr>PowerPoint Presentation</vt:lpstr>
      <vt:lpstr>PowerPoint Presentation</vt:lpstr>
      <vt:lpstr>Network function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 Example-Second Order System</vt:lpstr>
      <vt:lpstr>An Example</vt:lpstr>
      <vt:lpstr>PowerPoint Presentation</vt:lpstr>
      <vt:lpstr>Step response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salf</dc:creator>
  <cp:lastModifiedBy>Gopinatha Pillai</cp:lastModifiedBy>
  <cp:revision>74</cp:revision>
  <dcterms:created xsi:type="dcterms:W3CDTF">2008-08-19T16:40:28Z</dcterms:created>
  <dcterms:modified xsi:type="dcterms:W3CDTF">2026-08-04T05:33:27Z</dcterms:modified>
</cp:coreProperties>
</file>